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15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4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30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78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8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87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1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82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40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49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ADBA3-B88F-4F8E-ABAF-8993F91FA239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055CD-D621-4E22-BB3D-1BBC0B927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20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GUVI%20PROJECT\PROJECT%202\Sales_Performance_Analysis.xlsx!TASK%209A!R16C1:R21C2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file:///C:\Users\DELL\Desktop\GUVI%20PROJECT\PROJECT%202\Sales_Performance_Analysis.xlsx!TASK%209A!R16C4:R21C5" TargetMode="Externa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GUVI%20PROJECT\PROJECT%202\Sales_Performance_Analysis.xlsx!TASK%209A!R4C1:R10C2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file:///C:\Users\DELL\Desktop\GUVI%20PROJECT\PROJECT%202\Sales_Performance_Analysis.xlsx!TASK%209A!R4C4:R10C5" TargetMode="Externa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file:///C:\Users\DELL\Desktop\GUVI%20PROJECT\PROJECT%202\Sales_Performance_Analysis.xlsx!TASK%209A!R16C1:R21C2" TargetMode="External"/><Relationship Id="rId7" Type="http://schemas.openxmlformats.org/officeDocument/2006/relationships/oleObject" Target="file:///C:\Users\DELL\Desktop\GUVI%20PROJECT\PROJECT%202\Sales_Performance_Analysis.xlsx!TASK%209A!R16C13:R21C14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oleObject" Target="file:///C:\Users\DELL\Desktop\GUVI%20PROJECT\PROJECT%202\Sales_Performance_Analysis.xlsx!TASK%209A!R16C4:R21C5" TargetMode="Externa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file:///C:\Users\DELL\Desktop\GUVI%20PROJECT\PROJECT%202\Sales_Performance_Analysis.xlsx!TASK%209A!R4C1:R10C2" TargetMode="External"/><Relationship Id="rId7" Type="http://schemas.openxmlformats.org/officeDocument/2006/relationships/oleObject" Target="file:///C:\Users\DELL\Desktop\GUVI%20PROJECT\PROJECT%202\Sales_Performance_Analysis.xlsx!TASK%209A!R4C13:R10C14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emf"/><Relationship Id="rId5" Type="http://schemas.openxmlformats.org/officeDocument/2006/relationships/oleObject" Target="file:///C:\Users\DELL\Desktop\GUVI%20PROJECT\PROJECT%202\Sales_Performance_Analysis.xlsx!TASK%209A!R4C4:R10C5" TargetMode="Externa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GUVI%20PROJECT\PROJECT%202\Sales_Performance_Analysis.xlsx!TASK%207!%5bSales_Performance_Analysis.xlsx%5dTASK%207%20Chart%201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https://static.vecteezy.com/system/resources/previews/011/430/978/non_2x/sales-pitch-data-visualization-element-marketing-chart-research-data-business-statistics-financial-report-company-performance-analysis-concept-flat-modern-illustration-vec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7176"/>
            <a:ext cx="6634331" cy="442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11900" y="2197843"/>
            <a:ext cx="54336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SALES PERFORMANCE ANALYSIS OF</a:t>
            </a:r>
          </a:p>
          <a:p>
            <a:endParaRPr lang="en-GB" sz="2800" b="1" dirty="0"/>
          </a:p>
          <a:p>
            <a:r>
              <a:rPr lang="en-GB" sz="2800" b="1" dirty="0" smtClean="0"/>
              <a:t>ABC ELECTRONICS</a:t>
            </a:r>
            <a:endParaRPr lang="en-IN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311900" y="4130179"/>
            <a:ext cx="24995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PRESENTED BY </a:t>
            </a:r>
          </a:p>
          <a:p>
            <a:endParaRPr lang="en-GB" sz="2000" b="1" dirty="0"/>
          </a:p>
          <a:p>
            <a:r>
              <a:rPr lang="en-GB" sz="2000" b="1" dirty="0" smtClean="0"/>
              <a:t>SATHYANARRAYANAN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4843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06527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OBJECTIVE</a:t>
            </a:r>
            <a:endParaRPr lang="en-US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58390" y="1711692"/>
            <a:ext cx="9596788" cy="115850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To perform data cleaning and analysis to evaluate sales performance across regions and product categories, and develop a dynamic dashboard that highlights key trends and top-performing segments for strategic decision-making.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69620" y="3394153"/>
            <a:ext cx="10203180" cy="243519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Key Deliverables: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A </a:t>
            </a:r>
            <a:r>
              <a:rPr lang="en-IN" dirty="0"/>
              <a:t>cleaned and structured </a:t>
            </a:r>
            <a:r>
              <a:rPr lang="en-IN" dirty="0" smtClean="0"/>
              <a:t>dataset </a:t>
            </a:r>
            <a:r>
              <a:rPr lang="en-IN" dirty="0"/>
              <a:t>ready for analysis</a:t>
            </a:r>
            <a:r>
              <a:rPr lang="en-IN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 interactive dashboard summarizing sales performance </a:t>
            </a:r>
            <a:r>
              <a:rPr lang="en-IN" dirty="0" smtClean="0"/>
              <a:t>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</a:t>
            </a:r>
            <a:r>
              <a:rPr lang="en-IN" dirty="0" smtClean="0"/>
              <a:t>asic </a:t>
            </a:r>
            <a:r>
              <a:rPr lang="en-IN" dirty="0"/>
              <a:t>regression analysis </a:t>
            </a:r>
            <a:r>
              <a:rPr lang="en-IN" dirty="0" smtClean="0"/>
              <a:t>showing </a:t>
            </a:r>
            <a:r>
              <a:rPr lang="en-IN" dirty="0"/>
              <a:t>the relationship between discounts and sales.</a:t>
            </a:r>
            <a:endParaRPr lang="en-IN" dirty="0" smtClean="0"/>
          </a:p>
        </p:txBody>
      </p:sp>
      <p:pic>
        <p:nvPicPr>
          <p:cNvPr id="2050" name="Picture 2" descr="Sales Performance Stock Illustrations – 17,240 Sales Performance Stock  Illustrations, Vectors &amp; Clipart - Dreamsti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175" y="3511573"/>
            <a:ext cx="2427170" cy="242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28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116838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OVERALL SALES AND PROFIT PERFORMANCE</a:t>
            </a:r>
            <a:endParaRPr lang="en-US" sz="4000" b="1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993140" y="1864894"/>
            <a:ext cx="3406140" cy="58856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 smtClean="0"/>
              <a:t>TOTAL SALES</a:t>
            </a:r>
            <a:endParaRPr lang="en-IN" sz="2400" b="1" dirty="0" smtClean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6491604" y="1864894"/>
            <a:ext cx="3406140" cy="58856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 smtClean="0"/>
              <a:t>TOTAL PROFIT</a:t>
            </a:r>
            <a:endParaRPr lang="en-IN" sz="2400" b="1" dirty="0" smtClean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12673"/>
              </p:ext>
            </p:extLst>
          </p:nvPr>
        </p:nvGraphicFramePr>
        <p:xfrm>
          <a:off x="993140" y="2783125"/>
          <a:ext cx="4798060" cy="2285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Worksheet" r:id="rId3" imgW="2013061" imgH="958938" progId="Excel.Sheet.12">
                  <p:link updateAutomatic="1"/>
                </p:oleObj>
              </mc:Choice>
              <mc:Fallback>
                <p:oleObj name="Worksheet" r:id="rId3" imgW="2013061" imgH="95893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3140" y="2783125"/>
                        <a:ext cx="4798060" cy="2285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14655"/>
              </p:ext>
            </p:extLst>
          </p:nvPr>
        </p:nvGraphicFramePr>
        <p:xfrm>
          <a:off x="6491604" y="2773941"/>
          <a:ext cx="4452620" cy="2294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Worksheet" r:id="rId5" imgW="1860365" imgH="958938" progId="Excel.Sheet.12">
                  <p:link updateAutomatic="1"/>
                </p:oleObj>
              </mc:Choice>
              <mc:Fallback>
                <p:oleObj name="Worksheet" r:id="rId5" imgW="1860365" imgH="95893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1604" y="2773941"/>
                        <a:ext cx="4452620" cy="2294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481570" y="6032425"/>
            <a:ext cx="4537710" cy="5498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Total Sales and Profit displayed as per Region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88696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06527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OVERALL SALES AND PROFIT PERFORMANCE</a:t>
            </a:r>
            <a:endParaRPr lang="en-US" sz="4000" b="1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17812"/>
              </p:ext>
            </p:extLst>
          </p:nvPr>
        </p:nvGraphicFramePr>
        <p:xfrm>
          <a:off x="1066164" y="2716212"/>
          <a:ext cx="4491355" cy="2493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name="Worksheet" r:id="rId3" imgW="2013061" imgH="1117775" progId="Excel.Sheet.12">
                  <p:link updateAutomatic="1"/>
                </p:oleObj>
              </mc:Choice>
              <mc:Fallback>
                <p:oleObj name="Worksheet" r:id="rId3" imgW="2013061" imgH="111777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164" y="2716212"/>
                        <a:ext cx="4491355" cy="24936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343052"/>
              </p:ext>
            </p:extLst>
          </p:nvPr>
        </p:nvGraphicFramePr>
        <p:xfrm>
          <a:off x="6491604" y="2716212"/>
          <a:ext cx="4491355" cy="249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" name="Worksheet" r:id="rId5" imgW="2019374" imgH="1117775" progId="Excel.Sheet.12">
                  <p:link updateAutomatic="1"/>
                </p:oleObj>
              </mc:Choice>
              <mc:Fallback>
                <p:oleObj name="Worksheet" r:id="rId5" imgW="2019374" imgH="111777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1604" y="2716212"/>
                        <a:ext cx="4491355" cy="2493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993140" y="1864894"/>
            <a:ext cx="3406140" cy="58856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 smtClean="0"/>
              <a:t>TOTAL SALES</a:t>
            </a:r>
            <a:endParaRPr lang="en-IN" sz="2400" b="1" dirty="0" smtClean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6491604" y="1864894"/>
            <a:ext cx="3406140" cy="58856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 smtClean="0"/>
              <a:t>TOTAL PROFIT</a:t>
            </a:r>
            <a:endParaRPr lang="en-IN" sz="2400" b="1" dirty="0" smtClean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6634480" y="6032425"/>
            <a:ext cx="5384800" cy="5498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smtClean="0"/>
              <a:t>Total Sales and Profit displayed as per Product category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623968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06527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 smtClean="0"/>
              <a:t>REGIONAL PERFORMANCE ANALYSIS</a:t>
            </a:r>
            <a:endParaRPr lang="en-US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58390" y="1711692"/>
            <a:ext cx="10417610" cy="23929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b="1" dirty="0" smtClean="0"/>
              <a:t>Profit </a:t>
            </a:r>
            <a:r>
              <a:rPr lang="en-GB" b="1" dirty="0"/>
              <a:t>Performance</a:t>
            </a:r>
            <a:r>
              <a:rPr lang="en-GB" dirty="0"/>
              <a:t>: The East region has the highest profit </a:t>
            </a:r>
            <a:r>
              <a:rPr lang="en-GB" dirty="0" smtClean="0"/>
              <a:t>(1,052K</a:t>
            </a:r>
            <a:r>
              <a:rPr lang="en-GB" dirty="0"/>
              <a:t>), followed by the South with </a:t>
            </a:r>
            <a:r>
              <a:rPr lang="en-GB" dirty="0" smtClean="0"/>
              <a:t>1,011K.</a:t>
            </a:r>
          </a:p>
          <a:p>
            <a:pPr>
              <a:lnSpc>
                <a:spcPct val="150000"/>
              </a:lnSpc>
            </a:pPr>
            <a:r>
              <a:rPr lang="en-GB" b="1" dirty="0" smtClean="0"/>
              <a:t>Sales Performance: </a:t>
            </a:r>
            <a:r>
              <a:rPr lang="en-GB" dirty="0"/>
              <a:t>The East region</a:t>
            </a:r>
            <a:r>
              <a:rPr lang="en-GB" dirty="0" smtClean="0"/>
              <a:t> </a:t>
            </a:r>
            <a:r>
              <a:rPr lang="en-GB" dirty="0"/>
              <a:t>also led in total </a:t>
            </a:r>
            <a:r>
              <a:rPr lang="en-GB" dirty="0" smtClean="0"/>
              <a:t>sales </a:t>
            </a:r>
            <a:r>
              <a:rPr lang="en-GB" dirty="0"/>
              <a:t>with </a:t>
            </a:r>
            <a:r>
              <a:rPr lang="en-GB" dirty="0" smtClean="0"/>
              <a:t>2595K</a:t>
            </a:r>
            <a:r>
              <a:rPr lang="en-GB" dirty="0"/>
              <a:t>. 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b="1" dirty="0"/>
              <a:t>Profit Margin</a:t>
            </a:r>
            <a:r>
              <a:rPr lang="en-GB" dirty="0"/>
              <a:t>: The East also leads in profit margin at 101%, with the South close behind at 98</a:t>
            </a:r>
            <a:r>
              <a:rPr lang="en-GB" dirty="0" smtClean="0"/>
              <a:t>%.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North Region Insight</a:t>
            </a:r>
            <a:r>
              <a:rPr lang="en-GB" dirty="0"/>
              <a:t>: Despite having total sales nearly equal to the East, the North region is underperforming in both profit and profit margin.</a:t>
            </a:r>
            <a:endParaRPr lang="en-US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406343"/>
              </p:ext>
            </p:extLst>
          </p:nvPr>
        </p:nvGraphicFramePr>
        <p:xfrm>
          <a:off x="883285" y="5004298"/>
          <a:ext cx="2686506" cy="1279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Worksheet" r:id="rId3" imgW="2013061" imgH="958938" progId="Excel.Sheet.12">
                  <p:link updateAutomatic="1"/>
                </p:oleObj>
              </mc:Choice>
              <mc:Fallback>
                <p:oleObj name="Worksheet" r:id="rId3" imgW="2013061" imgH="95893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3285" y="5004298"/>
                        <a:ext cx="2686506" cy="12796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766562"/>
              </p:ext>
            </p:extLst>
          </p:nvPr>
        </p:nvGraphicFramePr>
        <p:xfrm>
          <a:off x="4316261" y="5004298"/>
          <a:ext cx="2481046" cy="127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Worksheet" r:id="rId5" imgW="1860365" imgH="958938" progId="Excel.Sheet.12">
                  <p:link updateAutomatic="1"/>
                </p:oleObj>
              </mc:Choice>
              <mc:Fallback>
                <p:oleObj name="Worksheet" r:id="rId5" imgW="1860365" imgH="95893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16261" y="5004298"/>
                        <a:ext cx="2481046" cy="12786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272737"/>
              </p:ext>
            </p:extLst>
          </p:nvPr>
        </p:nvGraphicFramePr>
        <p:xfrm>
          <a:off x="7167244" y="5004298"/>
          <a:ext cx="2637155" cy="127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Worksheet" r:id="rId7" imgW="2368562" imgH="958938" progId="Excel.Sheet.12">
                  <p:link updateAutomatic="1"/>
                </p:oleObj>
              </mc:Choice>
              <mc:Fallback>
                <p:oleObj name="Worksheet" r:id="rId7" imgW="2368562" imgH="95893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67244" y="5004298"/>
                        <a:ext cx="2637155" cy="12786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242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06527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 smtClean="0"/>
              <a:t>PRODUCT CATEGORY INSIGHT</a:t>
            </a:r>
            <a:endParaRPr lang="en-US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58390" y="1711692"/>
            <a:ext cx="10925610" cy="255550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Sales </a:t>
            </a:r>
            <a:r>
              <a:rPr lang="en-GB" b="1" dirty="0" smtClean="0"/>
              <a:t>Performance: </a:t>
            </a:r>
            <a:r>
              <a:rPr lang="en-GB" dirty="0" smtClean="0"/>
              <a:t>Clothing </a:t>
            </a:r>
            <a:r>
              <a:rPr lang="en-GB" dirty="0"/>
              <a:t>emerged as the top-performing category in terms of total sales, generating </a:t>
            </a:r>
            <a:r>
              <a:rPr lang="en-GB" dirty="0" smtClean="0"/>
              <a:t>2,156K the </a:t>
            </a:r>
            <a:r>
              <a:rPr lang="en-GB" dirty="0"/>
              <a:t>highest among all categories.</a:t>
            </a:r>
          </a:p>
          <a:p>
            <a:r>
              <a:rPr lang="en-GB" b="1" dirty="0"/>
              <a:t>Profit Margin </a:t>
            </a:r>
            <a:r>
              <a:rPr lang="en-GB" b="1" dirty="0" smtClean="0"/>
              <a:t>Analysis: </a:t>
            </a:r>
            <a:r>
              <a:rPr lang="en-GB" dirty="0" smtClean="0"/>
              <a:t>Clothing </a:t>
            </a:r>
            <a:r>
              <a:rPr lang="en-GB" dirty="0"/>
              <a:t>also led in total profit with </a:t>
            </a:r>
            <a:r>
              <a:rPr lang="en-GB" dirty="0" smtClean="0"/>
              <a:t>856K</a:t>
            </a:r>
            <a:r>
              <a:rPr lang="en-GB" dirty="0"/>
              <a:t>. However, Electronics outperformed in terms of profit margin, achieving 97%, slightly ahead of Clothing’s 96%.</a:t>
            </a:r>
          </a:p>
          <a:p>
            <a:r>
              <a:rPr lang="en-GB" b="1" dirty="0"/>
              <a:t>Low-Performing </a:t>
            </a:r>
            <a:r>
              <a:rPr lang="en-GB" b="1" dirty="0" smtClean="0"/>
              <a:t>Categories: </a:t>
            </a:r>
            <a:r>
              <a:rPr lang="en-GB" dirty="0" smtClean="0"/>
              <a:t>Grocery </a:t>
            </a:r>
            <a:r>
              <a:rPr lang="en-GB" dirty="0"/>
              <a:t>recorded the lowest sales and profit across all categories. Additionally, despite moderate sales, the Sports category showed the lowest profit margin, indicating a need for cost or pricing review.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629693"/>
              </p:ext>
            </p:extLst>
          </p:nvPr>
        </p:nvGraphicFramePr>
        <p:xfrm>
          <a:off x="769620" y="4492039"/>
          <a:ext cx="2366933" cy="1314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Worksheet" r:id="rId3" imgW="2013061" imgH="1117775" progId="Excel.Sheet.12">
                  <p:link updateAutomatic="1"/>
                </p:oleObj>
              </mc:Choice>
              <mc:Fallback>
                <p:oleObj name="Worksheet" r:id="rId3" imgW="2013061" imgH="111777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9620" y="4492039"/>
                        <a:ext cx="2366933" cy="1314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619614"/>
              </p:ext>
            </p:extLst>
          </p:nvPr>
        </p:nvGraphicFramePr>
        <p:xfrm>
          <a:off x="3731260" y="4490607"/>
          <a:ext cx="2190115" cy="1315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Worksheet" r:id="rId5" imgW="1860365" imgH="1117775" progId="Excel.Sheet.12">
                  <p:link updateAutomatic="1"/>
                </p:oleObj>
              </mc:Choice>
              <mc:Fallback>
                <p:oleObj name="Worksheet" r:id="rId5" imgW="1860365" imgH="111777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31260" y="4490607"/>
                        <a:ext cx="2190115" cy="1315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266855"/>
              </p:ext>
            </p:extLst>
          </p:nvPr>
        </p:nvGraphicFramePr>
        <p:xfrm>
          <a:off x="6504941" y="4492038"/>
          <a:ext cx="2785066" cy="1314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Worksheet" r:id="rId7" imgW="2368562" imgH="1117775" progId="Excel.Sheet.12">
                  <p:link updateAutomatic="1"/>
                </p:oleObj>
              </mc:Choice>
              <mc:Fallback>
                <p:oleObj name="Worksheet" r:id="rId7" imgW="2368562" imgH="111777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04941" y="4492038"/>
                        <a:ext cx="2785066" cy="1314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014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06527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DISCOUNT VS SALES – REGRESSION INSIGHT</a:t>
            </a:r>
            <a:endParaRPr lang="en-US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58390" y="1711692"/>
            <a:ext cx="9596788" cy="16106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The regression analysis shows a very weak relationship between discount percentage and sales amount (R² = 0.0003). </a:t>
            </a:r>
          </a:p>
          <a:p>
            <a:pPr>
              <a:lnSpc>
                <a:spcPct val="150000"/>
              </a:lnSpc>
            </a:pPr>
            <a:r>
              <a:rPr lang="en-GB" dirty="0"/>
              <a:t>This suggests that discounts have minimal impact on driving sales in this dataset.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318103"/>
              </p:ext>
            </p:extLst>
          </p:nvPr>
        </p:nvGraphicFramePr>
        <p:xfrm>
          <a:off x="3490278" y="3628231"/>
          <a:ext cx="4579937" cy="275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Worksheet" r:id="rId3" imgW="4579542" imgH="2750859" progId="Excel.Sheet.12">
                  <p:link updateAutomatic="1"/>
                </p:oleObj>
              </mc:Choice>
              <mc:Fallback>
                <p:oleObj name="Worksheet" r:id="rId3" imgW="4579542" imgH="275085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0278" y="3628231"/>
                        <a:ext cx="4579937" cy="275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454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06527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 smtClean="0"/>
              <a:t>INTERACTIVE DASHBOARD</a:t>
            </a:r>
            <a:endParaRPr lang="en-US" sz="4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20927"/>
            <a:ext cx="11785600" cy="479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46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92230"/>
            <a:ext cx="106527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 smtClean="0"/>
              <a:t>STRATEGIC RECOMMENDATION</a:t>
            </a:r>
            <a:endParaRPr lang="en-US" sz="4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58390" y="1711692"/>
            <a:ext cx="10925610" cy="332766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Focus on East Region</a:t>
            </a:r>
            <a:r>
              <a:rPr lang="en-GB" dirty="0"/>
              <a:t> – It leads in sales, profit, and profit margin; ideal for future growth campaigns and product launches</a:t>
            </a:r>
            <a:r>
              <a:rPr lang="en-GB" dirty="0" smtClean="0"/>
              <a:t>.</a:t>
            </a:r>
          </a:p>
          <a:p>
            <a:r>
              <a:rPr lang="en-GB" b="1" dirty="0"/>
              <a:t>Improve North Region Profitability</a:t>
            </a:r>
            <a:r>
              <a:rPr lang="en-GB" dirty="0"/>
              <a:t> – Despite strong sales, low profit and margin suggest a need to optimize pricing and reduce costs</a:t>
            </a:r>
            <a:r>
              <a:rPr lang="en-GB" dirty="0" smtClean="0"/>
              <a:t>.</a:t>
            </a:r>
          </a:p>
          <a:p>
            <a:r>
              <a:rPr lang="en-GB" b="1" dirty="0"/>
              <a:t>Prioritize Clothing &amp; Promote Electronics</a:t>
            </a:r>
            <a:r>
              <a:rPr lang="en-GB" dirty="0"/>
              <a:t> – Clothing drives the highest sales and profit, while Electronics offers the best margin—both should be key focus areas</a:t>
            </a:r>
            <a:r>
              <a:rPr lang="en-GB" dirty="0" smtClean="0"/>
              <a:t>.</a:t>
            </a:r>
          </a:p>
          <a:p>
            <a:r>
              <a:rPr lang="en-GB" b="1" dirty="0"/>
              <a:t>Review Low-Performing Categories</a:t>
            </a:r>
            <a:r>
              <a:rPr lang="en-GB" dirty="0"/>
              <a:t> – Grocery and Sports need attention; consider pricing adjustments, cost control, or product re-evaluation.</a:t>
            </a:r>
          </a:p>
        </p:txBody>
      </p:sp>
    </p:spTree>
    <p:extLst>
      <p:ext uri="{BB962C8B-B14F-4D97-AF65-F5344CB8AC3E}">
        <p14:creationId xmlns:p14="http://schemas.microsoft.com/office/powerpoint/2010/main" val="345616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426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11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C:\Users\DELL\Desktop\GUVI PROJECT\PROJECT 2\Sales_Performance_Analysis.xlsx!TASK 9A!R4C1:R10C2</vt:lpstr>
      <vt:lpstr>C:\Users\DELL\Desktop\GUVI PROJECT\PROJECT 2\Sales_Performance_Analysis.xlsx!TASK 9A!R4C4:R10C5</vt:lpstr>
      <vt:lpstr>C:\Users\DELL\Desktop\GUVI PROJECT\PROJECT 2\Sales_Performance_Analysis.xlsx!TASK 9A!R16C1:R21C2</vt:lpstr>
      <vt:lpstr>C:\Users\DELL\Desktop\GUVI PROJECT\PROJECT 2\Sales_Performance_Analysis.xlsx!TASK 9A!R16C4:R21C5</vt:lpstr>
      <vt:lpstr>C:\Users\DELL\Desktop\GUVI PROJECT\PROJECT 2\Sales_Performance_Analysis.xlsx!TASK 9A!R16C1:R21C2</vt:lpstr>
      <vt:lpstr>C:\Users\DELL\Desktop\GUVI PROJECT\PROJECT 2\Sales_Performance_Analysis.xlsx!TASK 9A!R16C4:R21C5</vt:lpstr>
      <vt:lpstr>C:\Users\DELL\Desktop\GUVI PROJECT\PROJECT 2\Sales_Performance_Analysis.xlsx!TASK 9A!R16C13:R21C14</vt:lpstr>
      <vt:lpstr>C:\Users\DELL\Desktop\GUVI PROJECT\PROJECT 2\Sales_Performance_Analysis.xlsx!TASK 9A!R4C1:R10C2</vt:lpstr>
      <vt:lpstr>C:\Users\DELL\Desktop\GUVI PROJECT\PROJECT 2\Sales_Performance_Analysis.xlsx!TASK 9A!R4C4:R10C5</vt:lpstr>
      <vt:lpstr>C:\Users\DELL\Desktop\GUVI PROJECT\PROJECT 2\Sales_Performance_Analysis.xlsx!TASK 9A!R4C13:R10C14</vt:lpstr>
      <vt:lpstr>C:\Users\DELL\Desktop\GUVI PROJECT\PROJECT 2\Sales_Performance_Analysis.xlsx!TASK 7![Sales_Performance_Analysis.xlsx]TASK 7 Chart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26</cp:revision>
  <dcterms:created xsi:type="dcterms:W3CDTF">2025-04-20T06:19:38Z</dcterms:created>
  <dcterms:modified xsi:type="dcterms:W3CDTF">2025-04-20T07:52:56Z</dcterms:modified>
</cp:coreProperties>
</file>